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4A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A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A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8A6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8A6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D9A7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D9A7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Mumbai Indians</c:v>
                  </c:pt>
                  <c:pt idx="1">
                    <c:v>Chennai Super Kings</c:v>
                  </c:pt>
                  <c:pt idx="2">
                    <c:v>Kolkata Knight Riders</c:v>
                  </c:pt>
                  <c:pt idx="3">
                    <c:v>Sunrisers Hyderabad</c:v>
                  </c:pt>
                  <c:pt idx="4">
                    <c:v>Punjab Kings</c:v>
                  </c:pt>
                  <c:pt idx="5">
                    <c:v>Royal Challengers B.</c:v>
                  </c:pt>
                  <c:pt idx="6">
                    <c:v>Delhi Capitals</c:v>
                  </c:pt>
                  <c:pt idx="7">
                    <c:v>Rajasthan Royals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109</c:v>
                </c:pt>
                <c:pt idx="1">
                  <c:v>100</c:v>
                </c:pt>
                <c:pt idx="2">
                  <c:v>92</c:v>
                </c:pt>
                <c:pt idx="3">
                  <c:v>87</c:v>
                </c:pt>
                <c:pt idx="4">
                  <c:v>82</c:v>
                </c:pt>
                <c:pt idx="5">
                  <c:v>84</c:v>
                </c:pt>
                <c:pt idx="6">
                  <c:v>77</c:v>
                </c:pt>
                <c:pt idx="7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628"/>
                </a:solidFill>
                <a:latin typeface="Arial"/>
              </a:rPr>
              <a:t>Runs by Over Phase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A3A6B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Middle Overs (7–15)</c:v>
                </c:pt>
                <c:pt idx="1">
                  <c:v>Powerplay (1–6)</c:v>
                </c:pt>
                <c:pt idx="2">
                  <c:v>Death Overs (16–20)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85000</c:v>
                </c:pt>
                <c:pt idx="1">
                  <c:v>57000</c:v>
                </c:pt>
                <c:pt idx="2">
                  <c:v>52000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A162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628"/>
                </a:solidFill>
                <a:latin typeface="Arial"/>
              </a:rPr>
              <a:t>Toss Decision Split (All Seasons)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1A3A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Field First</c:v>
                </c:pt>
                <c:pt idx="1">
                  <c:v>Bat First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463</c:v>
                </c:pt>
                <c:pt idx="1">
                  <c:v>293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A162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Runs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B8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D6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B8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DD6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ECDD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ECDD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D8E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8D8E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E6F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SK Raina</c:v>
                  </c:pt>
                  <c:pt idx="1">
                    <c:v>V Kohli</c:v>
                  </c:pt>
                  <c:pt idx="2">
                    <c:v>G Gambhir</c:v>
                  </c:pt>
                  <c:pt idx="3">
                    <c:v>RG Sharma</c:v>
                  </c:pt>
                  <c:pt idx="4">
                    <c:v>DA Warner</c:v>
                  </c:pt>
                  <c:pt idx="5">
                    <c:v>RV Uthappa</c:v>
                  </c:pt>
                  <c:pt idx="6">
                    <c:v>CH Gayle</c:v>
                  </c:pt>
                  <c:pt idx="7">
                    <c:v>S Dhawan</c:v>
                  </c:pt>
                  <c:pt idx="8">
                    <c:v>MS Dhoni</c:v>
                  </c:pt>
                  <c:pt idx="9">
                    <c:v>AB de Villiers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4548</c:v>
                </c:pt>
                <c:pt idx="1">
                  <c:v>4423</c:v>
                </c:pt>
                <c:pt idx="2">
                  <c:v>4132</c:v>
                </c:pt>
                <c:pt idx="3">
                  <c:v>4207</c:v>
                </c:pt>
                <c:pt idx="4">
                  <c:v>4014</c:v>
                </c:pt>
                <c:pt idx="5">
                  <c:v>3961</c:v>
                </c:pt>
                <c:pt idx="6">
                  <c:v>3900</c:v>
                </c:pt>
                <c:pt idx="7">
                  <c:v>3800</c:v>
                </c:pt>
                <c:pt idx="8">
                  <c:v>3700</c:v>
                </c:pt>
                <c:pt idx="9">
                  <c:v>3600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9F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9F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9F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2E8F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first_innings_runs</c:v>
                  </c:pt>
                  <c:pt idx="1">
                    <c:v>season</c:v>
                  </c:pt>
                  <c:pt idx="2">
                    <c:v>toss_winner</c:v>
                  </c:pt>
                  <c:pt idx="3">
                    <c:v>team1</c:v>
                  </c:pt>
                  <c:pt idx="4">
                    <c:v>venue</c:v>
                  </c:pt>
                  <c:pt idx="5">
                    <c:v>team2</c:v>
                  </c:pt>
                  <c:pt idx="6">
                    <c:v>toss_decision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0.22</c:v>
                </c:pt>
                <c:pt idx="1">
                  <c:v>0.16</c:v>
                </c:pt>
                <c:pt idx="2">
                  <c:v>0.16</c:v>
                </c:pt>
                <c:pt idx="3">
                  <c:v>0.14</c:v>
                </c:pt>
                <c:pt idx="4">
                  <c:v>0.13</c:v>
                </c:pt>
                <c:pt idx="5">
                  <c:v>0.12</c:v>
                </c:pt>
                <c:pt idx="6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A16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1E4A8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2743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B4D8"/>
                </a:solidFill>
              </a:rPr>
              <a:t>IPL ANALYTICS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Teams &amp; Players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Performance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Analytics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Data Analytics  •  2008–2020  •  179,078 Deliveries  •  756 Matches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3291840"/>
            <a:ext cx="192024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756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Matches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3291840"/>
            <a:ext cx="192024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12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Seasons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3291840"/>
            <a:ext cx="192024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179K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Deliveries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3291840"/>
            <a:ext cx="192024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80.9%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Model Accuracy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Datathon Project — Walchand Institute of Technology, Solapur  |  2025-26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Despite rich IPL data availability, teams rely on intuition rather than systematic analysis. This project builds a structured analytics pipeline covering team-level and player-level dimensions.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Dataset: IPL Complete Dataset 2008–2020 (Kaggle)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matches.csv: 756 matches, 17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deliveries.csv: 179,078 ball-by-ball 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40233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60020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5727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End-to-end analytics pipeline: data collection to visualization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214884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121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Random Forest classifier for match-winning probability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69748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670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K-Means clustering to segment batsmen into archetypes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324612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32186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Identify team trends, toss patterns &amp; run distributions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79476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3767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Communicate findings via interactive Power BI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&amp; PRE-PROCESSING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42062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matches.csv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Records: 756 records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Columns: team1, team2, winner, toss_winner, toss_decision, venue, season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Target: winner (match outcome)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402336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1440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deliveries.csv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389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Records: 179,078 records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627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Columns: match_id, batting_team, batsman, batsman_runs, bowler, player_dismissed, over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993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Target: batsman_runs, total_runs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A6B"/>
                </a:solidFill>
              </a:rPr>
              <a:t>7-STEP PRE-PROCESSING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200400"/>
            <a:ext cx="1115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200400"/>
            <a:ext cx="111556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2004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Step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3566160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Missing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Values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4133088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Imputed player_of_match &amp; city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472184" y="3200400"/>
            <a:ext cx="1115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472184" y="3200400"/>
            <a:ext cx="111556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72184" y="32004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Step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72184" y="3566160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Duplicates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Removed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72184" y="4133088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pandas.drop_duplicates()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15768" y="3200400"/>
            <a:ext cx="1115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15768" y="3200400"/>
            <a:ext cx="111556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15768" y="32004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Step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15768" y="3566160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Team Name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Standardised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15768" y="4133088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 franchise renames unified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959352" y="3200400"/>
            <a:ext cx="1115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59352" y="3200400"/>
            <a:ext cx="111556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59352" y="32004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Step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59352" y="3566160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Over Phase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Labelling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59352" y="4133088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Powerplay / Middle / Death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202936" y="3200400"/>
            <a:ext cx="1115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02936" y="3200400"/>
            <a:ext cx="111556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02936" y="32004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Step 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02936" y="3566160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Engineering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02936" y="4133088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toss_win_match_win, batting stats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446520" y="3200400"/>
            <a:ext cx="1115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6520" y="3200400"/>
            <a:ext cx="111556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32004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Step 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46520" y="3566160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Label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Encoding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46520" y="4133088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LabelEncoder for categoricals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690104" y="3200400"/>
            <a:ext cx="1115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690104" y="3200400"/>
            <a:ext cx="111556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0104" y="32004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Step 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90104" y="3566160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80/20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Train-Test Split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90104" y="4133088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604 train / 152 test, stratified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EXPLORATORY DATA ANALYSIS — TEAM WINS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960120"/>
            <a:ext cx="2971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60120"/>
            <a:ext cx="6400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07608" y="1005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🏆 Top Team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07608" y="12435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Mumbai Indians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07608" y="1554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109 wins across 12 seasons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2258568"/>
            <a:ext cx="2971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258568"/>
            <a:ext cx="6400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07608" y="2304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📊 Win Gap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07608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Top 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07608" y="2852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MI, CSK &amp; KKR dominate; large gap to rest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3557016"/>
            <a:ext cx="2971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557016"/>
            <a:ext cx="6400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07608" y="36027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📉 Bottom Teams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07608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Rajasthan &amp; Delhi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07608" y="41513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~75 wins, consistently lower tier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004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Source: IPL Complete Dataset 2008–2020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RUN DISTRIBUTION &amp; TOSS STRATEGY TRENDS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023360"/>
            <a:ext cx="27432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20040" y="4023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43.6%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2004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of runs come from Middle Overs (7–15) — the run engine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46120" y="4023360"/>
            <a:ext cx="27432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46120" y="4023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61.2%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24612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of toss winners chose to field first (all time)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172200" y="4023360"/>
            <a:ext cx="27432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172200" y="4023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Post-2014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17220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fielding first became near-universal strategy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RUN SCORERS — IPL 2008–2020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1440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96012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960120"/>
            <a:ext cx="50292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1st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059168" y="1005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SK Raina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59168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4,548 runs  •  CSK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92240" y="219456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94560"/>
            <a:ext cx="502920" cy="105156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2nd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59168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V Kohli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59168" y="2560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4,423 runs  •  RCB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92240" y="342900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3429000"/>
            <a:ext cx="502920" cy="105156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3429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3rd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59168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RG Sharma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59168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4,207 runs  •  MI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 1: MATCH WIN PREDICTION — RANDOM FOREST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10312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</a:rPr>
              <a:t>80.92%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152 test samples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06040" y="9144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Classification Report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261872"/>
          <a:ext cx="6217920" cy="1371600"/>
        </p:xfrm>
        <a:graphic>
          <a:graphicData uri="http://schemas.openxmlformats.org/drawingml/2006/table">
            <a:tbl>
              <a:tblPr/>
              <a:tblGrid>
                <a:gridCol w="1243584"/>
                <a:gridCol w="1243584"/>
                <a:gridCol w="1243584"/>
                <a:gridCol w="1243584"/>
                <a:gridCol w="1243584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Lost (0)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Won (1)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Weighted Avg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0.81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152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606040" y="27889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Feature Importance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606040" y="3063240"/>
          <a:ext cx="6217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3063240"/>
            <a:ext cx="2103120" cy="18288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D7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576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7A00"/>
                </a:solidFill>
              </a:rPr>
              <a:t>⚠ Limitation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65760" y="3401568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Class imbalance: 114 losses vs 38 wins. Recommend SMOTE or class_weight='balanced' to improve win recall.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 2: PLAYER PROFILING — K-MEANS CLUSTERING (K=4)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6908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ANCHORS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Top-order run accumulators. High avg runs, moderate-high strike rate.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Top Players: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SK Raina (4548), V Kohli (4423), RG Sharma (4207)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06908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601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FINISHERS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Middle-order/finishing role. Moderate-high strike rate, consistent runs.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Top Players: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AM Rahane (3057), KD Karthik (2903), M Vijay (2511)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406908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71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CONSISTENT SCORERS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All-rounders &amp; lower-order depth. Moderate strike rate and avg.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Top Players: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4023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DJ Bravo (1262), GJ Maxwell (1229), IK Pathan (1150)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406908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71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HITTERS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Pinch hitters. Very high strike rate, lower avg per match. Explosive.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Top Players: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4023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PP Chawla (515), M Manhas (514), J Botha (409)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K=4 selected via Elbow Method  •  162 qualifying players (min. 20 appearances)  •  Features: total runs, strike rate, avg runs/match, sixes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Mumbai Indians Dominate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~109 wins correlate with high first-innings scores &amp; strong death-over bowling — key predictors in the model.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1051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Field First is Standard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0128" y="15270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Since 2014, 80%+ of toss winners chose to field first — dew factor &amp; improved chase capabilities are key drivers.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7432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1051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First Innings Score is #1 Predictor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90488" y="15270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Feature importance = 0.22. Teams scoring 170+ win significantly more often.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7432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2971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Middle Overs are the Run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344728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43.6% of all runs come from overs 7–15. Teams that accelerate through middle overs build winning platforms.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03320" y="2971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Four Clear Player Archetypes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344728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K-Means cleanly separates batsmen: Anchors, Finishers, Consistent Scorers, Power Hitters.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274320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88036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2971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Recommendation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0488" y="344728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Deploy best economy bowlers in overs 7–15 (not just death overs). Use cluster model to find undervalued Finisher-type players at auction.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2050"/>
          </a:solidFill>
          <a:ln w="12700">
            <a:solidFill>
              <a:srgbClr val="0D2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B4D8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End-to-End IPL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Analytics Delivered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173736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80.92%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Random Forest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2240280"/>
            <a:ext cx="173736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K=4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8036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Player Archetypes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Identified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173736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4 pages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Interactive Power BI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2240280"/>
            <a:ext cx="1737360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179K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Deliveries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Analysed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221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Future: Live CricAPI integration  •  Rolling form tracking  •  Bowling analytics  •  LSTM win probability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Parth Kulkarni  •  Dhruv Sawarkar  •  Onkar Tulshigar  |  Dept. of Electronics Engineering, WIT Solapur  |  2025-26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Teams &amp; Players Performance Analytics</dc:title>
  <dc:subject>PptxGenJS Presentation</dc:subject>
  <dc:creator>PptxGenJS</dc:creator>
  <cp:lastModifiedBy>PptxGenJS</cp:lastModifiedBy>
  <cp:revision>1</cp:revision>
  <dcterms:created xsi:type="dcterms:W3CDTF">2026-04-15T13:33:39Z</dcterms:created>
  <dcterms:modified xsi:type="dcterms:W3CDTF">2026-04-15T13:33:39Z</dcterms:modified>
</cp:coreProperties>
</file>